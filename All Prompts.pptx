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72" r:id="rId5"/>
    <p:sldId id="270" r:id="rId6"/>
    <p:sldId id="265" r:id="rId7"/>
    <p:sldId id="2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A7172-8639-B9FD-14D9-BC2C01F0A9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1CAD5A-3C33-A811-5C96-C0175D0D6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61C47-4AA6-1ECD-928A-A7E23A13C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6733-3C68-4879-8706-626B8F93B439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96D99-1BD1-943F-2F7E-650CDB60B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3C1F3-1CB8-9987-E525-09A403BCB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A0A3-93F0-4BD3-974E-AA891EC8A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483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4E9F1-8FB7-C9CF-4379-14E74AE27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6B726-C4FC-FB3B-46D5-7F83CEF5E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DC898-24A3-E6DF-C361-169C9131C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6733-3C68-4879-8706-626B8F93B439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391E6-8107-BAEC-9872-E3DDA61A7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76A9E-6FFD-214C-8A42-7A3145DE2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A0A3-93F0-4BD3-974E-AA891EC8A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232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3F2CB-796A-7125-C8CE-6D425BB48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04EE7-C7C6-CF19-6FF3-1EEB7A08A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31948-DED8-3F4F-C066-E61CFA76C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6733-3C68-4879-8706-626B8F93B439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C294B-7F8D-EBEA-5CA6-F741D8488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871F5-9F9E-5E50-58F3-712F39C5F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A0A3-93F0-4BD3-974E-AA891EC8A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744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77DB7-5CA6-990B-E587-FA9EDE567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54C2A-3888-4BA7-719C-4045036A3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4E54EB-6454-9C0B-11D9-BFD54290A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32CFC-CC03-73EB-507F-E78CFA557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6733-3C68-4879-8706-626B8F93B439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CF070-8A21-16B9-5344-AEB91DE6C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4143F-FFE5-DA37-5CC3-2EBD0B02E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A0A3-93F0-4BD3-974E-AA891EC8A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66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79151-D382-4BCA-F26A-F1F35E7C7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26BCA-CD51-C117-28FB-9589196BB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B680A-11ED-0720-7914-D67C2EA78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91C0E6-550C-9031-D372-94BE225163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C68D44-3F31-EF9F-A710-09B8E66D7B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7BEDB5-E84A-D583-D56B-D425CC56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6733-3C68-4879-8706-626B8F93B439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2995AE-AFFA-FAD2-3B73-AEBC23CF4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D27BCD-62CE-31AE-41E5-E3430BA4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A0A3-93F0-4BD3-974E-AA891EC8A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748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47BE0-95BF-1256-FA17-B7EC124E3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4205E5-188B-568F-3E28-677A579A2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6733-3C68-4879-8706-626B8F93B439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252131-6764-70F0-4CB7-675152F42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3F16A4-DD00-1182-95C8-BF0F4FCD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A0A3-93F0-4BD3-974E-AA891EC8A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667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8535F3-19F4-3385-3777-B7CC1618C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6733-3C68-4879-8706-626B8F93B439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A87C32-3D85-90F3-35B6-AF70C24DE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B95DB-C424-A413-3A73-F307D5148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A0A3-93F0-4BD3-974E-AA891EC8A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775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9A1C-BB18-0467-34AD-0425DA409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10FF7-DE22-DE29-2C22-48E28F92F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0E76E0-34BC-3A9C-05DF-2B6912561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26C1E-F7BE-C679-EE4E-797F09CC6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6733-3C68-4879-8706-626B8F93B439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8947F-8E6C-E34B-3EA6-C111B6DC6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357DF-C53D-7199-CDAE-854840C4C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A0A3-93F0-4BD3-974E-AA891EC8A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657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B8E9-F612-5E3B-20D4-80011B7CD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8AA079-BD02-9188-809E-E8259249A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37DF3-291B-25B5-9DF0-B44843CA2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D38B4-F6DF-F987-E115-A6DDB4CD6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6733-3C68-4879-8706-626B8F93B439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12A44F-8CEE-5602-5A9E-F666C7154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754FD-9EFA-0F0F-6502-AB3A31A77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A0A3-93F0-4BD3-974E-AA891EC8A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792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B620D-3712-FD9B-CBE9-92419829D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2D74DF-FE50-B677-AD7F-0E9B831387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95B1C-7C03-45B5-4BA4-42002D7BE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6733-3C68-4879-8706-626B8F93B439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9A552-7DB3-57BD-3560-82801C3D8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5E4C4-7CCD-C84F-871B-93143CFB4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A0A3-93F0-4BD3-974E-AA891EC8A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340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0C70C7-EB0D-3B3E-5C82-7F13E65372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AB7657-67DE-75F4-B496-9CB73AD9A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77EAB-5601-03A0-65B7-9D176BD55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6733-3C68-4879-8706-626B8F93B439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C2FA2-8631-0D57-EE34-B6BADF5B2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04D23-4946-F512-C07B-0448DE7E6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A0A3-93F0-4BD3-974E-AA891EC8A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426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C679D-395D-0869-175C-E56CB44EC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3AB70-E73B-2AD3-B710-B51089ABA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FBA26-23BA-A562-22FE-A8882ADB81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AE6733-3C68-4879-8706-626B8F93B439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D159F-BBFD-59AB-21D0-DA1EA85550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78666-6DCC-0D0D-0C9E-8E06ADBEB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11A0A3-93F0-4BD3-974E-AA891EC8A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06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757C7-E225-6CDC-5549-F9658E2CD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27017"/>
          </a:xfrm>
        </p:spPr>
        <p:txBody>
          <a:bodyPr>
            <a:normAutofit fontScale="90000"/>
          </a:bodyPr>
          <a:lstStyle/>
          <a:p>
            <a:r>
              <a:rPr lang="en-US" dirty="0"/>
              <a:t>Claude AI </a:t>
            </a:r>
            <a:r>
              <a:rPr lang="en-US" dirty="0" smtClean="0"/>
              <a:t>Excel Project Employee data</a:t>
            </a:r>
            <a:endParaRPr lang="en-IN" dirty="0"/>
          </a:p>
        </p:txBody>
      </p:sp>
      <p:pic>
        <p:nvPicPr>
          <p:cNvPr id="5" name="Picture 4" descr="I've heard quite a few people talk about how good claude has been for their  workflows especially in coding with identifying bugs. curious to try this  one out and see if it's">
            <a:extLst>
              <a:ext uri="{FF2B5EF4-FFF2-40B4-BE49-F238E27FC236}">
                <a16:creationId xmlns:a16="http://schemas.microsoft.com/office/drawing/2014/main" id="{4FCBB04F-73DC-BBDB-DC07-43EFBB509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309" y="2102303"/>
            <a:ext cx="7620000" cy="42862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64194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A478AEBC-645E-A7C4-D72D-4B8F8F3040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7DA995-58C2-BCA6-1C05-416973CA0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528" y="2823224"/>
            <a:ext cx="4131368" cy="10471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800" b="1" dirty="0"/>
              <a:t>Data Cleaning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245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A0D92C-5B4D-0767-F0EB-D59AFC709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553" y="40139"/>
            <a:ext cx="3694606" cy="354622"/>
          </a:xfrm>
        </p:spPr>
        <p:txBody>
          <a:bodyPr anchor="ctr">
            <a:noAutofit/>
          </a:bodyPr>
          <a:lstStyle/>
          <a:p>
            <a:r>
              <a:rPr lang="en-US" sz="1800" dirty="0">
                <a:latin typeface="Segoe UI Black" panose="020B0A02040204020203" pitchFamily="34" charset="0"/>
                <a:ea typeface="Segoe UI Black" panose="020B0A02040204020203" pitchFamily="34" charset="0"/>
              </a:rPr>
              <a:t>Prompt #1</a:t>
            </a:r>
            <a:endParaRPr lang="en-IN" sz="1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33082C-9424-0930-FC83-2D166A6DB033}"/>
              </a:ext>
            </a:extLst>
          </p:cNvPr>
          <p:cNvSpPr txBox="1">
            <a:spLocks/>
          </p:cNvSpPr>
          <p:nvPr/>
        </p:nvSpPr>
        <p:spPr>
          <a:xfrm>
            <a:off x="4754639" y="451830"/>
            <a:ext cx="5341133" cy="6183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Analyse </a:t>
            </a:r>
            <a:r>
              <a:rPr lang="en-IN" sz="14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this dataset and perform data cleaning process</a:t>
            </a:r>
            <a:endParaRPr lang="en-IN" sz="1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964800" y="1052557"/>
            <a:ext cx="5676993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I analyzed the raw employee dataset (966 rows, 11 columns) and found several data quality issues, then cleaned them into a new workbook with a documented log.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Issues found and fixed: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6 fully blank rows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 (spacer rows) — removed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2 empty helper columns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 (Unnamed: 4, Unnamed: 7) — dropped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Emp_ID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 stored as float due to blank rows — converted to integer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Names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 had stray symbols (e.g. Agarwal#@, Kapoor#) and inconsistent casing — cleaned and title-cased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Gender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 mixed F/M with Female/Male (953 abbreviated values) — standardized to full labels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Department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 had inconsistent spacing/line-wrapping (e.g. "Human Resources", " Marketing ") across 834 rows — trimmed and normalized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City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 was in ALL CAPS — converted to Title Case, column renamed OFFICE_CITY → City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Performance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 renamed to Performance Rating, converted to clean integers (1–5 scale, no out-of-range values)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Checked for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duplicate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Emp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 IDs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 post-clean: none found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Flagged but not altered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 (needs a human judgment call): 94 employees have a Joining Date after today (2026-09-18) — likely planned/future joiners rather than errors, worth confirming with HR.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The output file has two tabs: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Cleaned Data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 (960 rows × 9 columns, formatted with headers, filters, and frozen panes) and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Cleaning Summary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 (a step-by-step log plus review notes)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15" y="219809"/>
            <a:ext cx="4657924" cy="600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383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33082C-9424-0930-FC83-2D166A6DB033}"/>
              </a:ext>
            </a:extLst>
          </p:cNvPr>
          <p:cNvSpPr txBox="1">
            <a:spLocks/>
          </p:cNvSpPr>
          <p:nvPr/>
        </p:nvSpPr>
        <p:spPr>
          <a:xfrm>
            <a:off x="291582" y="119949"/>
            <a:ext cx="5341133" cy="6183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Cleaned Data set </a:t>
            </a:r>
            <a:endParaRPr lang="en-IN" sz="1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2" y="846591"/>
            <a:ext cx="8535895" cy="590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005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A0D92C-5B4D-0767-F0EB-D59AFC709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92"/>
            <a:ext cx="3694606" cy="354622"/>
          </a:xfrm>
        </p:spPr>
        <p:txBody>
          <a:bodyPr anchor="ctr">
            <a:noAutofit/>
          </a:bodyPr>
          <a:lstStyle/>
          <a:p>
            <a:r>
              <a:rPr lang="en-US" sz="1800" dirty="0">
                <a:latin typeface="Segoe UI Black" panose="020B0A02040204020203" pitchFamily="34" charset="0"/>
                <a:ea typeface="Segoe UI Black" panose="020B0A02040204020203" pitchFamily="34" charset="0"/>
              </a:rPr>
              <a:t>Prompt </a:t>
            </a:r>
            <a:r>
              <a:rPr lang="en-US" sz="18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#2</a:t>
            </a:r>
            <a:endParaRPr lang="en-IN" sz="1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33082C-9424-0930-FC83-2D166A6DB033}"/>
              </a:ext>
            </a:extLst>
          </p:cNvPr>
          <p:cNvSpPr txBox="1">
            <a:spLocks/>
          </p:cNvSpPr>
          <p:nvPr/>
        </p:nvSpPr>
        <p:spPr>
          <a:xfrm>
            <a:off x="0" y="370214"/>
            <a:ext cx="10174904" cy="6183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Analyse </a:t>
            </a:r>
            <a:r>
              <a:rPr lang="en-IN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this dataset and provide key KPIs, trends, insights, and suggested charts, and key points to improve/focus, generate report in New sheet and do not overlap reports 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820508" y="1091737"/>
            <a:ext cx="4938806" cy="4793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Key KPIs</a:t>
            </a:r>
            <a:endParaRPr lang="en-US" sz="12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n-US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960 employees, near-perfect gender balance (50.1% F / 49.9% M)</a:t>
            </a:r>
          </a:p>
          <a:p>
            <a:r>
              <a:rPr lang="en-US" sz="12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Avg</a:t>
            </a:r>
            <a:r>
              <a:rPr lang="en-US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performance rating: 3.01/5 — but the workforce is polarized: 40.2% high performers (4–5) vs. 39.2% low performers (1–2)</a:t>
            </a:r>
          </a:p>
          <a:p>
            <a:r>
              <a:rPr lang="en-US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HR is largest </a:t>
            </a:r>
            <a:r>
              <a:rPr lang="en-US" sz="12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dept</a:t>
            </a:r>
            <a:r>
              <a:rPr lang="en-US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 (158, 16.5%) but lowest-performing (</a:t>
            </a:r>
            <a:r>
              <a:rPr lang="en-US" sz="12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avg</a:t>
            </a:r>
            <a:r>
              <a:rPr lang="en-US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 2.80, 43.7% low performers)</a:t>
            </a:r>
          </a:p>
          <a:p>
            <a:r>
              <a:rPr lang="en-US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Marketing is smallest-headcount standout: best </a:t>
            </a:r>
            <a:r>
              <a:rPr lang="en-US" sz="12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avg</a:t>
            </a:r>
            <a:r>
              <a:rPr lang="en-US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performance (3.26), lowest low-performer rate (32.6%)</a:t>
            </a:r>
          </a:p>
          <a:p>
            <a:r>
              <a:rPr lang="en-US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Steady hiring growth: 271 (2024) → 347 (2025) → 342 logged for 2026, ~29 hires/month</a:t>
            </a:r>
          </a:p>
          <a:p>
            <a:r>
              <a:rPr lang="en-US" sz="1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Trends &amp; insights</a:t>
            </a:r>
            <a:r>
              <a:rPr lang="en-US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 — performance-rating distribution, department/city/designation breakdowns, low-performer rates, and hiring trend are all laid out with supporting tables.</a:t>
            </a:r>
          </a:p>
          <a:p>
            <a:r>
              <a:rPr lang="en-US" sz="1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Suggested charts</a:t>
            </a:r>
            <a:r>
              <a:rPr lang="en-US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 (also embedded live in the sheet) — headcount by department, </a:t>
            </a:r>
            <a:r>
              <a:rPr lang="en-US" sz="12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avg</a:t>
            </a:r>
            <a:r>
              <a:rPr lang="en-US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performance by department, gender split (pie), performance-rating distribution, hiring trend by year, headcount by city.</a:t>
            </a:r>
          </a:p>
          <a:p>
            <a:r>
              <a:rPr lang="en-US" sz="1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Focus areas</a:t>
            </a:r>
            <a:r>
              <a:rPr lang="en-US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 — 7 concrete recommendations, e.g., a performance-improvement push in HR, reviewing the Consultant designation, replicating Marketing's practices, and building a structured PIP pipeline given the large low-performer segment.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07" y="988606"/>
            <a:ext cx="5600701" cy="531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376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275DD-E4EA-8852-45DE-47F352609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484" y="1084006"/>
            <a:ext cx="8949690" cy="31635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Dashboard Creation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2DDDDB-B463-1544-2E45-5A46CF44085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245622" y="-88387"/>
            <a:ext cx="1686145" cy="12206614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119797-EECC-175B-72BF-C218A213566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538194" y="1262730"/>
            <a:ext cx="1672575" cy="9517964"/>
          </a:xfrm>
          <a:prstGeom prst="rect">
            <a:avLst/>
          </a:prstGeom>
          <a:gradFill>
            <a:gsLst>
              <a:gs pos="47000">
                <a:schemeClr val="accent2">
                  <a:alpha val="0"/>
                </a:schemeClr>
              </a:gs>
              <a:gs pos="95000">
                <a:schemeClr val="accent2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326DB0-D290-E656-7866-713DA14FC6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618370" y="284362"/>
            <a:ext cx="1686152" cy="11461107"/>
          </a:xfrm>
          <a:prstGeom prst="rect">
            <a:avLst/>
          </a:prstGeom>
          <a:gradFill>
            <a:gsLst>
              <a:gs pos="58000">
                <a:schemeClr val="accent5">
                  <a:lumMod val="60000"/>
                  <a:lumOff val="40000"/>
                  <a:alpha val="0"/>
                </a:schemeClr>
              </a:gs>
              <a:gs pos="100000">
                <a:schemeClr val="accent5">
                  <a:alpha val="80000"/>
                </a:scheme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F5323D-1D78-58B7-40E4-489E233D8B7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2420" y="1370378"/>
            <a:ext cx="1686152" cy="9289093"/>
          </a:xfrm>
          <a:prstGeom prst="rect">
            <a:avLst/>
          </a:prstGeom>
          <a:gradFill>
            <a:gsLst>
              <a:gs pos="48000">
                <a:schemeClr val="accent5">
                  <a:lumMod val="75000"/>
                  <a:alpha val="0"/>
                </a:schemeClr>
              </a:gs>
              <a:gs pos="100000">
                <a:schemeClr val="accent5">
                  <a:lumMod val="75000"/>
                  <a:alpha val="7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082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A0D92C-5B4D-0767-F0EB-D59AFC709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92"/>
            <a:ext cx="3694606" cy="354622"/>
          </a:xfrm>
        </p:spPr>
        <p:txBody>
          <a:bodyPr anchor="ctr">
            <a:noAutofit/>
          </a:bodyPr>
          <a:lstStyle/>
          <a:p>
            <a:r>
              <a:rPr lang="en-US" sz="1800" dirty="0">
                <a:latin typeface="Segoe UI Black" panose="020B0A02040204020203" pitchFamily="34" charset="0"/>
                <a:ea typeface="Segoe UI Black" panose="020B0A02040204020203" pitchFamily="34" charset="0"/>
              </a:rPr>
              <a:t>Prompt </a:t>
            </a:r>
            <a:r>
              <a:rPr lang="en-US" sz="18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#3</a:t>
            </a:r>
            <a:endParaRPr lang="en-IN" sz="1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33082C-9424-0930-FC83-2D166A6DB033}"/>
              </a:ext>
            </a:extLst>
          </p:cNvPr>
          <p:cNvSpPr txBox="1">
            <a:spLocks/>
          </p:cNvSpPr>
          <p:nvPr/>
        </p:nvSpPr>
        <p:spPr>
          <a:xfrm>
            <a:off x="0" y="370214"/>
            <a:ext cx="11605846" cy="6183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Create Dashboard </a:t>
            </a:r>
            <a:r>
              <a:rPr lang="en-US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with heading Employee Workforce </a:t>
            </a:r>
            <a:r>
              <a:rPr lang="en-US" sz="14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Dashboard </a:t>
            </a:r>
            <a:r>
              <a:rPr lang="en-US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create filter below the heading </a:t>
            </a:r>
            <a:r>
              <a:rPr lang="en-US" sz="14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and refer sheet name KPI report and prepare charts KPI </a:t>
            </a:r>
            <a:endParaRPr lang="en-IN" sz="1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39" y="1119004"/>
            <a:ext cx="10533184" cy="549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025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528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Segoe UI Black</vt:lpstr>
      <vt:lpstr>Segoe UI Light</vt:lpstr>
      <vt:lpstr>Office Theme</vt:lpstr>
      <vt:lpstr>Claude AI Excel Project Employee data</vt:lpstr>
      <vt:lpstr>Data Cleaning</vt:lpstr>
      <vt:lpstr>Prompt #1</vt:lpstr>
      <vt:lpstr>PowerPoint Presentation</vt:lpstr>
      <vt:lpstr>Prompt #2</vt:lpstr>
      <vt:lpstr>Dashboard Creation</vt:lpstr>
      <vt:lpstr>Prompt #3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AI Excel Masterclass</dc:title>
  <dc:creator>Satish Dhawale</dc:creator>
  <cp:lastModifiedBy>Nidhi</cp:lastModifiedBy>
  <cp:revision>8</cp:revision>
  <dcterms:created xsi:type="dcterms:W3CDTF">2026-04-25T01:04:41Z</dcterms:created>
  <dcterms:modified xsi:type="dcterms:W3CDTF">2026-09-18T04:39:37Z</dcterms:modified>
</cp:coreProperties>
</file>