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D37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Human Resources</c:v>
                </c:pt>
                <c:pt idx="1">
                  <c:v>Sales</c:v>
                </c:pt>
                <c:pt idx="2">
                  <c:v>Marketing</c:v>
                </c:pt>
                <c:pt idx="3">
                  <c:v>Legal</c:v>
                </c:pt>
                <c:pt idx="4">
                  <c:v>IT Support</c:v>
                </c:pt>
                <c:pt idx="5">
                  <c:v>Finance</c:v>
                </c:pt>
                <c:pt idx="6">
                  <c:v>Operations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158</c:v>
                </c:pt>
                <c:pt idx="1">
                  <c:v>146</c:v>
                </c:pt>
                <c:pt idx="2">
                  <c:v>144</c:v>
                </c:pt>
                <c:pt idx="3">
                  <c:v>136</c:v>
                </c:pt>
                <c:pt idx="4">
                  <c:v>134</c:v>
                </c:pt>
                <c:pt idx="5">
                  <c:v>127</c:v>
                </c:pt>
                <c:pt idx="6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F0-491A-8F93-48AA350122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Human Resources</c:v>
                </c:pt>
                <c:pt idx="1">
                  <c:v>Sales</c:v>
                </c:pt>
                <c:pt idx="2">
                  <c:v>Marketing</c:v>
                </c:pt>
                <c:pt idx="3">
                  <c:v>Legal</c:v>
                </c:pt>
                <c:pt idx="4">
                  <c:v>IT Support</c:v>
                </c:pt>
                <c:pt idx="5">
                  <c:v>Finance</c:v>
                </c:pt>
                <c:pt idx="6">
                  <c:v>Operations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2.8</c:v>
                </c:pt>
                <c:pt idx="1">
                  <c:v>2.92</c:v>
                </c:pt>
                <c:pt idx="2">
                  <c:v>3.26</c:v>
                </c:pt>
                <c:pt idx="3">
                  <c:v>3.06</c:v>
                </c:pt>
                <c:pt idx="4">
                  <c:v>3.05</c:v>
                </c:pt>
                <c:pt idx="5">
                  <c:v>3.07</c:v>
                </c:pt>
                <c:pt idx="6">
                  <c:v>2.92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78-45D9-8910-C40D8E0633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.5"/>
          <c:min val="2.5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D37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Hyderabad</c:v>
                </c:pt>
                <c:pt idx="1">
                  <c:v>Chennai</c:v>
                </c:pt>
                <c:pt idx="2">
                  <c:v>Bangalore</c:v>
                </c:pt>
                <c:pt idx="3">
                  <c:v>Kolkata</c:v>
                </c:pt>
                <c:pt idx="4">
                  <c:v>Delhi</c:v>
                </c:pt>
                <c:pt idx="5">
                  <c:v>Pune</c:v>
                </c:pt>
                <c:pt idx="6">
                  <c:v>Mumbai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156</c:v>
                </c:pt>
                <c:pt idx="1">
                  <c:v>142</c:v>
                </c:pt>
                <c:pt idx="2">
                  <c:v>139</c:v>
                </c:pt>
                <c:pt idx="3">
                  <c:v>137</c:v>
                </c:pt>
                <c:pt idx="4">
                  <c:v>130</c:v>
                </c:pt>
                <c:pt idx="5">
                  <c:v>129</c:v>
                </c:pt>
                <c:pt idx="6">
                  <c:v>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85-487F-B97E-857767DF62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D37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Hyderabad</c:v>
                </c:pt>
                <c:pt idx="1">
                  <c:v>Chennai</c:v>
                </c:pt>
                <c:pt idx="2">
                  <c:v>Bangalore</c:v>
                </c:pt>
                <c:pt idx="3">
                  <c:v>Kolkata</c:v>
                </c:pt>
                <c:pt idx="4">
                  <c:v>Delhi</c:v>
                </c:pt>
                <c:pt idx="5">
                  <c:v>Pune</c:v>
                </c:pt>
                <c:pt idx="6">
                  <c:v>Mumbai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2.95</c:v>
                </c:pt>
                <c:pt idx="1">
                  <c:v>2.97</c:v>
                </c:pt>
                <c:pt idx="2">
                  <c:v>2.95</c:v>
                </c:pt>
                <c:pt idx="3">
                  <c:v>3.01</c:v>
                </c:pt>
                <c:pt idx="4">
                  <c:v>3.05</c:v>
                </c:pt>
                <c:pt idx="5">
                  <c:v>3.15</c:v>
                </c:pt>
                <c:pt idx="6">
                  <c:v>3.02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15-453C-A23B-2B661B6431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.3"/>
          <c:min val="2.8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D37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187</c:v>
                </c:pt>
                <c:pt idx="1">
                  <c:v>189</c:v>
                </c:pt>
                <c:pt idx="2">
                  <c:v>198</c:v>
                </c:pt>
                <c:pt idx="3">
                  <c:v>199</c:v>
                </c:pt>
                <c:pt idx="4">
                  <c:v>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CC-42C6-843D-224FE9FCAB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Low Performer %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D37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Human Resources</c:v>
                </c:pt>
                <c:pt idx="1">
                  <c:v>Sales</c:v>
                </c:pt>
                <c:pt idx="2">
                  <c:v>Marketing</c:v>
                </c:pt>
                <c:pt idx="3">
                  <c:v>Legal</c:v>
                </c:pt>
                <c:pt idx="4">
                  <c:v>IT Support</c:v>
                </c:pt>
                <c:pt idx="5">
                  <c:v>Finance</c:v>
                </c:pt>
                <c:pt idx="6">
                  <c:v>Operations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43.7</c:v>
                </c:pt>
                <c:pt idx="1">
                  <c:v>41.8</c:v>
                </c:pt>
                <c:pt idx="2">
                  <c:v>32.6</c:v>
                </c:pt>
                <c:pt idx="3">
                  <c:v>36.799999999999997</c:v>
                </c:pt>
                <c:pt idx="4">
                  <c:v>38.799999999999997</c:v>
                </c:pt>
                <c:pt idx="5">
                  <c:v>40.9</c:v>
                </c:pt>
                <c:pt idx="6">
                  <c:v>39.1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4B-4907-933E-9F076E41F3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New Joiners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D37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271</c:v>
                </c:pt>
                <c:pt idx="1">
                  <c:v>347</c:v>
                </c:pt>
                <c:pt idx="2">
                  <c:v>342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B4-45CF-AD3A-EA5596F098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D37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Analyst</c:v>
                </c:pt>
                <c:pt idx="1">
                  <c:v>Intern</c:v>
                </c:pt>
                <c:pt idx="2">
                  <c:v>Director</c:v>
                </c:pt>
                <c:pt idx="3">
                  <c:v>Consultant</c:v>
                </c:pt>
                <c:pt idx="4">
                  <c:v>Developer</c:v>
                </c:pt>
                <c:pt idx="5">
                  <c:v>Executive</c:v>
                </c:pt>
                <c:pt idx="6">
                  <c:v>Manager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162</c:v>
                </c:pt>
                <c:pt idx="1">
                  <c:v>142</c:v>
                </c:pt>
                <c:pt idx="2">
                  <c:v>135</c:v>
                </c:pt>
                <c:pt idx="3">
                  <c:v>133</c:v>
                </c:pt>
                <c:pt idx="4">
                  <c:v>132</c:v>
                </c:pt>
                <c:pt idx="5">
                  <c:v>131</c:v>
                </c:pt>
                <c:pt idx="6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C5-40C5-8C49-A676E00452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/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2D37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Analyst</c:v>
                </c:pt>
                <c:pt idx="1">
                  <c:v>Intern</c:v>
                </c:pt>
                <c:pt idx="2">
                  <c:v>Director</c:v>
                </c:pt>
                <c:pt idx="3">
                  <c:v>Consultant</c:v>
                </c:pt>
                <c:pt idx="4">
                  <c:v>Developer</c:v>
                </c:pt>
                <c:pt idx="5">
                  <c:v>Executive</c:v>
                </c:pt>
                <c:pt idx="6">
                  <c:v>Manager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2.98</c:v>
                </c:pt>
                <c:pt idx="1">
                  <c:v>3.09</c:v>
                </c:pt>
                <c:pt idx="2">
                  <c:v>3.02</c:v>
                </c:pt>
                <c:pt idx="3">
                  <c:v>2.84</c:v>
                </c:pt>
                <c:pt idx="4">
                  <c:v>2.91</c:v>
                </c:pt>
                <c:pt idx="5">
                  <c:v>3.15</c:v>
                </c:pt>
                <c:pt idx="6">
                  <c:v>3.08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B5-4FD8-BB94-8E93D4AB13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.3"/>
          <c:min val="2.7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Employee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ECDD7"/>
                </a:solidFill>
              </a:defRPr>
            </a:pPr>
            <a:r>
              <a:t>KPI &amp; Insights Report | Clean HR Dataset | Report date: 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800" b="1">
                <a:solidFill>
                  <a:srgbClr val="FFFFFF"/>
                </a:solidFill>
              </a:defRPr>
            </a:pPr>
            <a:r>
              <a:t>960</a:t>
            </a:r>
          </a:p>
          <a:p>
            <a:pPr>
              <a:defRPr sz="2100">
                <a:solidFill>
                  <a:srgbClr val="BECDD7"/>
                </a:solidFill>
              </a:defRPr>
            </a:pPr>
            <a:r>
              <a:t>employees analyzed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874519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874519"/>
            <a:ext cx="64008" cy="114300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2039112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50.1% / 49.9%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Female / Male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2461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09560" y="3246120"/>
            <a:ext cx="64008" cy="114300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3410712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536"/>
                </a:solidFill>
              </a:defRPr>
            </a:pPr>
            <a:r>
              <a:t>3.01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Average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617720"/>
            <a:ext cx="3291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4617720"/>
            <a:ext cx="64008" cy="114300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4782312"/>
            <a:ext cx="30175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72536"/>
                </a:solidFill>
              </a:defRPr>
            </a:pPr>
            <a:r>
              <a:t>7 / 7 / 7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Departments / Designations / Cities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536"/>
                </a:solidFill>
              </a:defRPr>
            </a:pPr>
            <a:r>
              <a:t>Executive KPI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Workforce structure and performance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64008" cy="150876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2240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960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Total 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64008" cy="150876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581912"/>
            <a:ext cx="2240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3.01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Avg Performance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4008" cy="150876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581912"/>
            <a:ext cx="2240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40.2%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High Performers (386)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4173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98280" y="1417320"/>
            <a:ext cx="64008" cy="150876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81160" y="1581912"/>
            <a:ext cx="2240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39.2%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Low Performers (376)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747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474720"/>
            <a:ext cx="64008" cy="150876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639312"/>
            <a:ext cx="2240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7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Departments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34747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29000" y="3474720"/>
            <a:ext cx="64008" cy="150876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11880" y="3639312"/>
            <a:ext cx="2240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7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Designations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747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3474720"/>
            <a:ext cx="64008" cy="150876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639312"/>
            <a:ext cx="2240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7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Office Cities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47472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3474720"/>
            <a:ext cx="64008" cy="150876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81160" y="3639312"/>
            <a:ext cx="22402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72536"/>
                </a:solidFill>
              </a:defRPr>
            </a:pPr>
            <a:r>
              <a:t>50.1% / 49.9%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Gender 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536"/>
                </a:solidFill>
              </a:defRPr>
            </a:pPr>
            <a:r>
              <a:t>Department Workforce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Headcount and average performance by department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3258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325880"/>
          <a:ext cx="5257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61996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1A8F8E"/>
                </a:solidFill>
              </a:defRPr>
            </a:pPr>
            <a:r>
              <a:t>Animated reveal • Data labels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536"/>
                </a:solidFill>
              </a:defRPr>
            </a:pPr>
            <a:r>
              <a:t>City Workforce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/>
              <a:t>Headcount distribution and average performance across 7 cities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258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325880"/>
          <a:ext cx="52578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61996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1A8F8E"/>
                </a:solidFill>
              </a:defRPr>
            </a:pPr>
            <a:r>
              <a:rPr dirty="0"/>
              <a:t>Animated reveal • Data labels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536"/>
                </a:solidFill>
              </a:defRPr>
            </a:pPr>
            <a:r>
              <a:t>Performance Rating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/>
              <a:t>Ratings 1–5 are broadly distributed, with a near-even split at the two ends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37160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6002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600200"/>
            <a:ext cx="64008" cy="132588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19" y="1764792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536"/>
                </a:solidFill>
              </a:defRPr>
            </a:pPr>
            <a:r>
              <a:t>40.2%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High performers | Rating 4–5 | 386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24612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3246120"/>
            <a:ext cx="64008" cy="132588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19" y="3410712"/>
            <a:ext cx="32004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2536"/>
                </a:solidFill>
              </a:defRPr>
            </a:pPr>
            <a:r>
              <a:t>39.2%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Low performers | Rating 1–2 | 376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892040"/>
            <a:ext cx="3474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4892040"/>
            <a:ext cx="64008" cy="100584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5056631"/>
            <a:ext cx="3200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3.01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Overall average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61996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1A8F8E"/>
                </a:solidFill>
              </a:defRPr>
            </a:pPr>
            <a:r>
              <a:t>Animated reveal • Data labels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536"/>
                </a:solidFill>
              </a:defRPr>
            </a:pPr>
            <a:r>
              <a:t>Low-Performer Rate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/>
              <a:t>Employees with performance ratings of 1–2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280160"/>
          <a:ext cx="658368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5544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554480"/>
            <a:ext cx="64008" cy="123444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19" y="171907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2536"/>
                </a:solidFill>
              </a:defRPr>
            </a:pPr>
            <a:r>
              <a:t>43.7%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Highest: Human Resources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10896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3108960"/>
            <a:ext cx="64008" cy="123444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19" y="3273552"/>
            <a:ext cx="31546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72536"/>
                </a:solidFill>
              </a:defRPr>
            </a:pPr>
            <a:r>
              <a:t>32.6%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Lowest: Marketing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663440"/>
            <a:ext cx="3429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4663440"/>
            <a:ext cx="64008" cy="105156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4828031"/>
            <a:ext cx="31546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72536"/>
                </a:solidFill>
              </a:defRPr>
            </a:pPr>
            <a:r>
              <a:t>376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Employees rated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61996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1A8F8E"/>
                </a:solidFill>
              </a:defRPr>
            </a:pPr>
            <a:r>
              <a:t>Animated reveal • Data labels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536"/>
                </a:solidFill>
              </a:defRPr>
            </a:pPr>
            <a:r>
              <a:t>Hiring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rPr dirty="0"/>
              <a:t>New joiners by year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41732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60020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35240" y="1600200"/>
            <a:ext cx="64008" cy="118872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18119" y="1764792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536"/>
                </a:solidFill>
              </a:defRPr>
            </a:pPr>
            <a:r>
              <a:t>271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New joiners in 2024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4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3063240"/>
            <a:ext cx="64008" cy="1188720"/>
          </a:xfrm>
          <a:prstGeom prst="rect">
            <a:avLst/>
          </a:prstGeom>
          <a:solidFill>
            <a:srgbClr val="E79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19" y="3227832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536"/>
                </a:solidFill>
              </a:defRPr>
            </a:pPr>
            <a:r>
              <a:t>347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New joiners in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452628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4526280"/>
            <a:ext cx="64008" cy="1188720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4690872"/>
            <a:ext cx="3154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72536"/>
                </a:solidFill>
              </a:defRPr>
            </a:pPr>
            <a:r>
              <a:t>342</a:t>
            </a:r>
          </a:p>
          <a:p>
            <a:pPr>
              <a:spcBef>
                <a:spcPts val="500"/>
              </a:spcBef>
              <a:defRPr sz="1000">
                <a:solidFill>
                  <a:srgbClr val="69737D"/>
                </a:solidFill>
              </a:defRPr>
            </a:pPr>
            <a:r>
              <a:t>New joiners in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61996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1A8F8E"/>
                </a:solidFill>
              </a:defRPr>
            </a:pPr>
            <a:r>
              <a:t>Animated reveal • Data labels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536"/>
                </a:solidFill>
              </a:defRPr>
            </a:pPr>
            <a:r>
              <a:t>Designation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Headcount and average performance across 7 designations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28016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280160"/>
          <a:ext cx="5257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078992"/>
            <a:ext cx="1005840" cy="41148"/>
          </a:xfrm>
          <a:prstGeom prst="rect">
            <a:avLst/>
          </a:prstGeom>
          <a:solidFill>
            <a:srgbClr val="1A8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38360" y="6199632"/>
            <a:ext cx="1737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1A8F8E"/>
                </a:solidFill>
              </a:defRPr>
            </a:pPr>
            <a:r>
              <a:t>Animated reveal • Data labels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72536"/>
                </a:solidFill>
              </a:defRPr>
            </a:pPr>
            <a:r>
              <a:t>Key Insights &amp; Focus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Evidence-based observations from 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D3741"/>
                </a:solidFill>
              </a:defRPr>
            </a:pPr>
            <a:r>
              <a:t>• Gender split is nearly even: 50.1% Female / 49.9% Male.</a:t>
            </a:r>
          </a:p>
          <a:p>
            <a:pPr>
              <a:spcAft>
                <a:spcPts val="1200"/>
              </a:spcAft>
              <a:defRPr sz="1400">
                <a:solidFill>
                  <a:srgbClr val="2D3741"/>
                </a:solidFill>
              </a:defRPr>
            </a:pPr>
            <a:r>
              <a:t>• Performance is split between 40.2% high performers and 39.2% low performers.</a:t>
            </a:r>
          </a:p>
          <a:p>
            <a:pPr>
              <a:spcAft>
                <a:spcPts val="1200"/>
              </a:spcAft>
              <a:defRPr sz="1400">
                <a:solidFill>
                  <a:srgbClr val="2D3741"/>
                </a:solidFill>
              </a:defRPr>
            </a:pPr>
            <a:r>
              <a:t>• Human Resources is the largest department (158) and has the lowest average performance (2.80) with a 43.7% low-performer rate.</a:t>
            </a:r>
          </a:p>
          <a:p>
            <a:pPr>
              <a:spcAft>
                <a:spcPts val="1200"/>
              </a:spcAft>
              <a:defRPr sz="1400">
                <a:solidFill>
                  <a:srgbClr val="2D3741"/>
                </a:solidFill>
              </a:defRPr>
            </a:pPr>
            <a:r>
              <a:t>• Marketing has the highest average department performance (3.26) and the lowest low-performer rate (32.6%).</a:t>
            </a:r>
          </a:p>
          <a:p>
            <a:pPr>
              <a:spcAft>
                <a:spcPts val="1200"/>
              </a:spcAft>
              <a:defRPr sz="1400">
                <a:solidFill>
                  <a:srgbClr val="2D3741"/>
                </a:solidFill>
              </a:defRPr>
            </a:pPr>
            <a:r>
              <a:t>• Pune has the highest city average performance (3.15); Hyderabad has the largest city headcount (156).</a:t>
            </a:r>
          </a:p>
          <a:p>
            <a:pPr>
              <a:spcAft>
                <a:spcPts val="1200"/>
              </a:spcAft>
              <a:defRPr sz="1400">
                <a:solidFill>
                  <a:srgbClr val="2D3741"/>
                </a:solidFill>
              </a:defRPr>
            </a:pPr>
            <a:r>
              <a:t>• Hiring increased from 271 joiners in 2024 to 347 in 2025, with 342 logged for 2026.</a:t>
            </a:r>
          </a:p>
          <a:p>
            <a:pPr>
              <a:spcAft>
                <a:spcPts val="1200"/>
              </a:spcAft>
              <a:defRPr sz="1400">
                <a:solidFill>
                  <a:srgbClr val="2D3741"/>
                </a:solidFill>
              </a:defRPr>
            </a:pPr>
            <a:r>
              <a:t>• 94 records have joining dates after the 18 Sep 2026 report date, indicating scheduled future onboarding.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Action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ECDD7"/>
                </a:solidFill>
              </a:defRPr>
            </a:pPr>
            <a:r>
              <a:t>Suggested management focus based on the supplied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</a:defRPr>
            </a:pPr>
            <a:r>
              <a:rPr dirty="0"/>
              <a:t>• </a:t>
            </a:r>
            <a:r>
              <a:rPr dirty="0">
                <a:solidFill>
                  <a:schemeClr val="bg1"/>
                </a:solidFill>
              </a:rPr>
              <a:t>Human Resources: review workload, management practices and training due to 2.80 average rating and 43.7% low-performer rate.</a:t>
            </a:r>
          </a:p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Consultant role: examine role clarity, mentoring and career pathing given the 2.84 average performance.</a:t>
            </a:r>
          </a:p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Replicate useful practices from Marketing, which records 3.26 average performance and 32.6% low-performer rate.</a:t>
            </a:r>
          </a:p>
          <a:p>
            <a:pPr>
              <a:spcAft>
                <a:spcPts val="1200"/>
              </a:spcAft>
              <a:defRPr sz="1700">
                <a:solidFill>
                  <a:srgbClr val="2D3741"/>
                </a:solidFill>
              </a:defRPr>
            </a:pPr>
            <a:r>
              <a:rPr dirty="0">
                <a:solidFill>
                  <a:schemeClr val="bg1"/>
                </a:solidFill>
              </a:rPr>
              <a:t>• Use the steady hiring pace and 94 future-dated joiners to plan onboarding and training capacity.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9224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Employee Workforce | KPI &amp; Insights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544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Nidhi</cp:lastModifiedBy>
  <cp:revision>2</cp:revision>
  <dcterms:created xsi:type="dcterms:W3CDTF">2013-01-27T09:14:16Z</dcterms:created>
  <dcterms:modified xsi:type="dcterms:W3CDTF">2026-09-18T04:46:25Z</dcterms:modified>
  <cp:category/>
</cp:coreProperties>
</file>